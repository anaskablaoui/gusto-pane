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3" r:id="rId10"/>
    <p:sldId id="269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8F2"/>
    <a:srgbClr val="2E8B57"/>
    <a:srgbClr val="D953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934" y="6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482272-0CA4-9CBE-F153-D43E33806A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95A8BC7-75DD-1878-3FAC-A9D80086DC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BF5ADD4-7F03-35BE-20E2-46F558347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4BF44-BF21-4FEA-B80B-F5ED07A587D2}" type="datetimeFigureOut">
              <a:rPr lang="fr-FR" smtClean="0"/>
              <a:t>05/01/2026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88DE1A0-02A1-0BF3-A594-D8B2FBFD3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D834F64-62E8-D1FD-BC44-E18BC8287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6AF27-0D10-4620-B34B-44AB342AE66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084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B074BA-0229-6E0B-AC26-E2CCF86A1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868B3C6-AD81-835F-E4A5-010BB3DDF9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9B7DD9F-565A-B3B7-37BE-A9831BBEB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4BF44-BF21-4FEA-B80B-F5ED07A587D2}" type="datetimeFigureOut">
              <a:rPr lang="fr-FR" smtClean="0"/>
              <a:t>05/01/2026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7EA8027-BA48-3E99-CA5F-7C73B1DDD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8EF136F-7722-8A1D-DADD-35FE33E83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6AF27-0D10-4620-B34B-44AB342AE66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1880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4B5CC-FC24-60CD-8950-1AEAEAF60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B4F57DE-CF47-EC32-50F6-FEDB8A69F8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CA4B64C-F234-86D5-F152-9A20CACA8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4BF44-BF21-4FEA-B80B-F5ED07A587D2}" type="datetimeFigureOut">
              <a:rPr lang="fr-FR" smtClean="0"/>
              <a:t>05/01/2026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A49A578-F53D-EB32-B98B-190E9985E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3EA8548-232E-6657-E6CD-617B1DBFC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6AF27-0D10-4620-B34B-44AB342AE66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5015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5D836B-57B0-DC08-DC0B-524E939BD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5876AD8-BDAC-157B-76C6-C708C75F63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537C06E-158C-F8D6-80DC-1C7DE878D6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D133E3D-8179-C98F-F3EF-1D52A4D46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4BF44-BF21-4FEA-B80B-F5ED07A587D2}" type="datetimeFigureOut">
              <a:rPr lang="fr-FR" smtClean="0"/>
              <a:t>05/01/2026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038DB22-74C1-7C85-4F22-43EDEA9EE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4CF84BB-D8CA-F520-BC3F-C78A59459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6AF27-0D10-4620-B34B-44AB342AE66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2858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0FF1A7-40DA-A786-DD2A-6334BEA0B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1BB7D2B-02A4-EC5F-61CF-16F256569F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9809220-ADDF-1832-4480-9BC061C526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F2D67D4-F6DB-78FD-C559-C4633B19A2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42E3F0D-152D-B8AD-CBAE-D285045B14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4EE2582-254E-E982-CD6F-D8A614121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4BF44-BF21-4FEA-B80B-F5ED07A587D2}" type="datetimeFigureOut">
              <a:rPr lang="fr-FR" smtClean="0"/>
              <a:t>05/01/2026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A8DDA90-C54F-119D-F9C3-D84FA996D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8728017-DF02-D23D-34DE-9329A4EC0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6AF27-0D10-4620-B34B-44AB342AE66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8214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98B913-AF9C-B6B1-0DA8-9EA284A96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F1B6DBF-777A-4494-429A-6347FA0DA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4BF44-BF21-4FEA-B80B-F5ED07A587D2}" type="datetimeFigureOut">
              <a:rPr lang="fr-FR" smtClean="0"/>
              <a:t>05/01/2026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A631DC4-E207-0E81-038F-892F5500B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E4CE0F9-0CDE-D95D-A4F7-F271D5BF6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6AF27-0D10-4620-B34B-44AB342AE66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2319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9EDB6AD-FF67-731E-BB9D-6C3B316FE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4BF44-BF21-4FEA-B80B-F5ED07A587D2}" type="datetimeFigureOut">
              <a:rPr lang="fr-FR" smtClean="0"/>
              <a:t>05/01/2026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330903D-5E9F-9539-2DA6-6DC60B654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40D870E-709D-5062-02AA-C78453F21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6AF27-0D10-4620-B34B-44AB342AE66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5323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D153C6-7648-1218-6375-EC3B28A83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465B687-7E76-B3DC-FFA0-6F7313A8CF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ABB2381-ED0E-EE8C-D459-C206F560D8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EBA3B11-91D0-2E1E-5CFD-2DC7111B4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4BF44-BF21-4FEA-B80B-F5ED07A587D2}" type="datetimeFigureOut">
              <a:rPr lang="fr-FR" smtClean="0"/>
              <a:t>05/01/2026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F420A58-154E-0981-75FF-112AF0AC8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F17E511-774E-880B-27C2-D388FE213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6AF27-0D10-4620-B34B-44AB342AE66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5307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9C69F6-C2DF-08EA-2011-DF4DD367D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C06E0F5-5919-3196-FECC-F8F1664EC9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82845F0-B0EE-29D7-E343-B764892614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3C36F5D-5486-4A41-A28E-AAD7116E4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4BF44-BF21-4FEA-B80B-F5ED07A587D2}" type="datetimeFigureOut">
              <a:rPr lang="fr-FR" smtClean="0"/>
              <a:t>05/01/2026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C4B3C86-4B47-C052-DC02-B5E398D8B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4A0E2D5-92A9-5DEA-1982-1BB5830D1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6AF27-0D10-4620-B34B-44AB342AE66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5302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1204A0-0A4E-6A86-CC24-555C31F32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C63A2C1-3B1B-A449-F9AE-4C5676C17D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F5ABE9F-B332-ACF3-E3BE-FBCE18339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4BF44-BF21-4FEA-B80B-F5ED07A587D2}" type="datetimeFigureOut">
              <a:rPr lang="fr-FR" smtClean="0"/>
              <a:t>05/01/2026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7D31786-6D09-8A7A-96E0-CEB47A61B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AB8E2F8-6CA4-F489-9246-BE491BE10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6AF27-0D10-4620-B34B-44AB342AE66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742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4D4B804D-08EB-0844-1CC6-C15FDAF5E9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63DF7FE-E601-EA1B-D103-76B3AEF557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D7D9338-E5BD-AB53-8DC0-96CCC236B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4BF44-BF21-4FEA-B80B-F5ED07A587D2}" type="datetimeFigureOut">
              <a:rPr lang="fr-FR" smtClean="0"/>
              <a:t>05/01/2026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D568E88-08A8-E819-6600-6DF70B30B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B579953-C943-3AB1-7DCF-25275295F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6AF27-0D10-4620-B34B-44AB342AE66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5333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5932C9A-C70A-A80E-3872-695AD519B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48567E1-FA3D-E6AE-F34E-C4CD7B6273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38ADAC-781C-3BB8-8AC2-7E4B0FD1AD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24BF44-BF21-4FEA-B80B-F5ED07A587D2}" type="datetimeFigureOut">
              <a:rPr lang="fr-FR" smtClean="0"/>
              <a:t>05/01/2026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E8399FC-A2B8-F50E-DAB8-DC22E660EB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9CFA77B-9132-9DE4-E9EA-18E5B80C3E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76AF27-0D10-4620-B34B-44AB342AE66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2723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EC969DD-36C3-C86C-CB0E-4B9991AEB60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5E4F10AC-368B-7E8F-565F-C84025090D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2360" y="1101090"/>
            <a:ext cx="4511040" cy="986790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33056E4F-1E21-8D80-14B3-E10B7E7DFE49}"/>
              </a:ext>
            </a:extLst>
          </p:cNvPr>
          <p:cNvSpPr txBox="1"/>
          <p:nvPr/>
        </p:nvSpPr>
        <p:spPr>
          <a:xfrm>
            <a:off x="1764784" y="4046846"/>
            <a:ext cx="32508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Realise</a:t>
            </a:r>
            <a:r>
              <a:rPr lang="en-US" sz="2000" dirty="0"/>
              <a:t> par : Anas KABLAOUI</a:t>
            </a:r>
            <a:br>
              <a:rPr lang="en-US" sz="2000" dirty="0"/>
            </a:br>
            <a:r>
              <a:rPr lang="en-US" sz="2000" dirty="0"/>
              <a:t> 	      Badr BENHILAL</a:t>
            </a:r>
            <a:endParaRPr lang="fr-FR" sz="2000" dirty="0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7F5D5767-2141-384F-03ED-2DBE8AA83C73}"/>
              </a:ext>
            </a:extLst>
          </p:cNvPr>
          <p:cNvSpPr txBox="1"/>
          <p:nvPr/>
        </p:nvSpPr>
        <p:spPr>
          <a:xfrm>
            <a:off x="7429986" y="4216123"/>
            <a:ext cx="3513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3IIR Development Web </a:t>
            </a:r>
            <a:endParaRPr lang="fr-FR" dirty="0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1C4846DA-320C-FD49-6F06-E42A831BF7DC}"/>
              </a:ext>
            </a:extLst>
          </p:cNvPr>
          <p:cNvSpPr txBox="1"/>
          <p:nvPr/>
        </p:nvSpPr>
        <p:spPr>
          <a:xfrm>
            <a:off x="4365774" y="2604195"/>
            <a:ext cx="30642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D9534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Gusto &amp; Pane</a:t>
            </a:r>
            <a:endParaRPr lang="fr-FR" sz="2000" dirty="0">
              <a:solidFill>
                <a:srgbClr val="D9534F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F2314A23-2E87-A2AE-424C-BF8CD46A692C}"/>
              </a:ext>
            </a:extLst>
          </p:cNvPr>
          <p:cNvSpPr txBox="1"/>
          <p:nvPr/>
        </p:nvSpPr>
        <p:spPr>
          <a:xfrm>
            <a:off x="4611053" y="5167729"/>
            <a:ext cx="3199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Encadrent</a:t>
            </a:r>
            <a:r>
              <a:rPr lang="en-US" dirty="0"/>
              <a:t> : Houda </a:t>
            </a:r>
            <a:r>
              <a:rPr lang="en-US" dirty="0" err="1"/>
              <a:t>MoutTalib</a:t>
            </a:r>
            <a:r>
              <a:rPr lang="en-US" dirty="0"/>
              <a:t> </a:t>
            </a:r>
            <a:endParaRPr lang="fr-FR" dirty="0"/>
          </a:p>
        </p:txBody>
      </p:sp>
      <p:sp>
        <p:nvSpPr>
          <p:cNvPr id="21" name="Triangle rectangle 20">
            <a:extLst>
              <a:ext uri="{FF2B5EF4-FFF2-40B4-BE49-F238E27FC236}">
                <a16:creationId xmlns:a16="http://schemas.microsoft.com/office/drawing/2014/main" id="{61097F67-E4D5-1BD6-705F-5CD542B8ED87}"/>
              </a:ext>
            </a:extLst>
          </p:cNvPr>
          <p:cNvSpPr/>
          <p:nvPr/>
        </p:nvSpPr>
        <p:spPr>
          <a:xfrm rot="16200000">
            <a:off x="13243560" y="-2226885"/>
            <a:ext cx="4373880" cy="5288280"/>
          </a:xfrm>
          <a:prstGeom prst="rtTriangle">
            <a:avLst/>
          </a:prstGeom>
          <a:solidFill>
            <a:srgbClr val="2E8B57"/>
          </a:solidFill>
          <a:ln>
            <a:solidFill>
              <a:srgbClr val="FFF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68541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A1926-4A1E-BF59-743E-9270DAD29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27E6DD6-DCCB-43BF-B439-FDD98740BA6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9326462D-7996-CA98-EC75-9750F1896F03}"/>
              </a:ext>
            </a:extLst>
          </p:cNvPr>
          <p:cNvSpPr txBox="1"/>
          <p:nvPr/>
        </p:nvSpPr>
        <p:spPr>
          <a:xfrm>
            <a:off x="-5565656" y="5814686"/>
            <a:ext cx="32508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Realise</a:t>
            </a:r>
            <a:r>
              <a:rPr lang="en-US" sz="2000" dirty="0"/>
              <a:t> par : Anas KABLAOUI</a:t>
            </a:r>
            <a:br>
              <a:rPr lang="en-US" sz="2000" dirty="0"/>
            </a:br>
            <a:r>
              <a:rPr lang="en-US" sz="2000" dirty="0"/>
              <a:t> 	      Badr BENHILAL</a:t>
            </a:r>
            <a:endParaRPr lang="fr-FR" sz="2000" dirty="0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50325B00-2C62-174E-C9FF-27750799956B}"/>
              </a:ext>
            </a:extLst>
          </p:cNvPr>
          <p:cNvSpPr txBox="1"/>
          <p:nvPr/>
        </p:nvSpPr>
        <p:spPr>
          <a:xfrm>
            <a:off x="14623266" y="5983963"/>
            <a:ext cx="3513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3IIR Development Web </a:t>
            </a:r>
            <a:endParaRPr lang="fr-FR" dirty="0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AD0BC0ED-BF0C-3751-7A13-23DF458F5A30}"/>
              </a:ext>
            </a:extLst>
          </p:cNvPr>
          <p:cNvSpPr txBox="1"/>
          <p:nvPr/>
        </p:nvSpPr>
        <p:spPr>
          <a:xfrm>
            <a:off x="555774" y="607755"/>
            <a:ext cx="30642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D9534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Gusto &amp; Pane</a:t>
            </a:r>
            <a:endParaRPr lang="fr-FR" sz="2000" dirty="0">
              <a:solidFill>
                <a:srgbClr val="D9534F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5B8C5E3A-7B98-CB82-AE90-33F9BB4ACB28}"/>
              </a:ext>
            </a:extLst>
          </p:cNvPr>
          <p:cNvSpPr txBox="1"/>
          <p:nvPr/>
        </p:nvSpPr>
        <p:spPr>
          <a:xfrm>
            <a:off x="4230053" y="7609048"/>
            <a:ext cx="3199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Encadrent</a:t>
            </a:r>
            <a:r>
              <a:rPr lang="en-US" dirty="0"/>
              <a:t> : Houda </a:t>
            </a:r>
            <a:r>
              <a:rPr lang="en-US" dirty="0" err="1"/>
              <a:t>MoutTalib</a:t>
            </a:r>
            <a:r>
              <a:rPr lang="en-US" dirty="0"/>
              <a:t> </a:t>
            </a:r>
            <a:endParaRPr lang="fr-FR" dirty="0"/>
          </a:p>
        </p:txBody>
      </p:sp>
      <p:sp>
        <p:nvSpPr>
          <p:cNvPr id="2" name="Triangle rectangle 1">
            <a:extLst>
              <a:ext uri="{FF2B5EF4-FFF2-40B4-BE49-F238E27FC236}">
                <a16:creationId xmlns:a16="http://schemas.microsoft.com/office/drawing/2014/main" id="{B3A92129-2564-F0D6-FCBC-4ED4361697C6}"/>
              </a:ext>
            </a:extLst>
          </p:cNvPr>
          <p:cNvSpPr/>
          <p:nvPr/>
        </p:nvSpPr>
        <p:spPr>
          <a:xfrm rot="16200000">
            <a:off x="7360920" y="2026920"/>
            <a:ext cx="4373880" cy="5288280"/>
          </a:xfrm>
          <a:prstGeom prst="rtTriangle">
            <a:avLst/>
          </a:prstGeom>
          <a:solidFill>
            <a:srgbClr val="2E8B57"/>
          </a:solidFill>
          <a:ln>
            <a:solidFill>
              <a:srgbClr val="FFF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4B3B4BE-B1B1-8A99-DF46-3CA680796DD2}"/>
              </a:ext>
            </a:extLst>
          </p:cNvPr>
          <p:cNvSpPr txBox="1"/>
          <p:nvPr/>
        </p:nvSpPr>
        <p:spPr>
          <a:xfrm>
            <a:off x="1173480" y="1767840"/>
            <a:ext cx="6675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Gusto &amp; pane management , </a:t>
            </a:r>
            <a:r>
              <a:rPr lang="en-US" dirty="0" err="1"/>
              <a:t>une</a:t>
            </a:r>
            <a:r>
              <a:rPr lang="en-US" dirty="0"/>
              <a:t> application web qui </a:t>
            </a:r>
            <a:r>
              <a:rPr lang="en-US" dirty="0" err="1"/>
              <a:t>gere</a:t>
            </a:r>
            <a:r>
              <a:rPr lang="en-US" dirty="0"/>
              <a:t> un restaurant </a:t>
            </a:r>
            <a:r>
              <a:rPr lang="en-US" dirty="0" err="1"/>
              <a:t>italien</a:t>
            </a:r>
            <a:r>
              <a:rPr lang="en-US" dirty="0"/>
              <a:t> (Gusto &amp; pane).</a:t>
            </a:r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613B032-7B9C-E459-C1D8-48000145ECFB}"/>
              </a:ext>
            </a:extLst>
          </p:cNvPr>
          <p:cNvSpPr txBox="1"/>
          <p:nvPr/>
        </p:nvSpPr>
        <p:spPr>
          <a:xfrm>
            <a:off x="1173480" y="3046631"/>
            <a:ext cx="90220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Probleme</a:t>
            </a:r>
            <a:r>
              <a:rPr lang="en-US" dirty="0"/>
              <a:t> 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	-Gestion Manuelle des </a:t>
            </a:r>
            <a:r>
              <a:rPr lang="en-US" dirty="0" err="1"/>
              <a:t>stocks,menu,employe</a:t>
            </a:r>
            <a:r>
              <a:rPr lang="en-US" dirty="0"/>
              <a:t> </a:t>
            </a:r>
            <a:r>
              <a:rPr lang="en-US" dirty="0" err="1"/>
              <a:t>comptabilite</a:t>
            </a:r>
            <a:r>
              <a:rPr lang="en-US" dirty="0"/>
              <a:t> … </a:t>
            </a:r>
            <a:br>
              <a:rPr lang="en-US" dirty="0"/>
            </a:br>
            <a:r>
              <a:rPr lang="en-US" dirty="0"/>
              <a:t>	-</a:t>
            </a:r>
            <a:r>
              <a:rPr lang="en-US" dirty="0" err="1"/>
              <a:t>Suivi</a:t>
            </a:r>
            <a:r>
              <a:rPr lang="en-US" dirty="0"/>
              <a:t> des </a:t>
            </a:r>
            <a:r>
              <a:rPr lang="en-US" dirty="0" err="1"/>
              <a:t>Recette</a:t>
            </a:r>
            <a:r>
              <a:rPr lang="en-US" dirty="0"/>
              <a:t> et </a:t>
            </a:r>
            <a:r>
              <a:rPr lang="en-US" dirty="0" err="1"/>
              <a:t>depense</a:t>
            </a:r>
            <a:r>
              <a:rPr lang="en-US" dirty="0"/>
              <a:t> et </a:t>
            </a:r>
            <a:r>
              <a:rPr lang="en-US" dirty="0" err="1"/>
              <a:t>Rapporyt</a:t>
            </a:r>
            <a:r>
              <a:rPr lang="en-US" dirty="0"/>
              <a:t> </a:t>
            </a:r>
            <a:r>
              <a:rPr lang="en-US" dirty="0" err="1"/>
              <a:t>economique</a:t>
            </a:r>
            <a:r>
              <a:rPr lang="en-US" dirty="0"/>
              <a:t> difficile .</a:t>
            </a:r>
            <a:br>
              <a:rPr lang="en-US" dirty="0"/>
            </a:br>
            <a:r>
              <a:rPr lang="en-US" dirty="0"/>
              <a:t>	-manque de </a:t>
            </a:r>
            <a:r>
              <a:rPr lang="en-US" dirty="0" err="1"/>
              <a:t>statistique</a:t>
            </a:r>
            <a:r>
              <a:rPr lang="en-US" dirty="0"/>
              <a:t> </a:t>
            </a:r>
            <a:r>
              <a:rPr lang="en-US" dirty="0" err="1"/>
              <a:t>claire</a:t>
            </a:r>
            <a:r>
              <a:rPr lang="en-US" dirty="0"/>
              <a:t>.</a:t>
            </a:r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69173DC-E30F-70A8-6EE0-A08194B40007}"/>
              </a:ext>
            </a:extLst>
          </p:cNvPr>
          <p:cNvSpPr txBox="1"/>
          <p:nvPr/>
        </p:nvSpPr>
        <p:spPr>
          <a:xfrm>
            <a:off x="929640" y="5242560"/>
            <a:ext cx="5791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 solution est de </a:t>
            </a:r>
            <a:r>
              <a:rPr lang="en-US" dirty="0" err="1"/>
              <a:t>cree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application web </a:t>
            </a:r>
            <a:r>
              <a:rPr lang="en-US" dirty="0" err="1"/>
              <a:t>dont</a:t>
            </a:r>
            <a:r>
              <a:rPr lang="en-US" dirty="0"/>
              <a:t> on </a:t>
            </a:r>
            <a:r>
              <a:rPr lang="en-US" dirty="0" err="1"/>
              <a:t>peux</a:t>
            </a:r>
            <a:r>
              <a:rPr lang="en-US" dirty="0"/>
              <a:t> </a:t>
            </a:r>
            <a:r>
              <a:rPr lang="en-US" dirty="0" err="1"/>
              <a:t>gerer</a:t>
            </a:r>
            <a:r>
              <a:rPr lang="en-US" dirty="0"/>
              <a:t> </a:t>
            </a:r>
            <a:r>
              <a:rPr lang="en-US" dirty="0" err="1"/>
              <a:t>notre</a:t>
            </a:r>
            <a:r>
              <a:rPr lang="en-US" dirty="0"/>
              <a:t> restaurants de manière plus </a:t>
            </a:r>
            <a:r>
              <a:rPr lang="en-US" dirty="0" err="1"/>
              <a:t>automatiser</a:t>
            </a:r>
            <a:r>
              <a:rPr lang="en-US" dirty="0"/>
              <a:t> 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722383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169E8-5317-CB03-4327-C308816E0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ADE7C22-9194-C871-3565-EF450C472F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B465DB77-5274-A796-D8D9-A0D56231BAB2}"/>
              </a:ext>
            </a:extLst>
          </p:cNvPr>
          <p:cNvSpPr txBox="1"/>
          <p:nvPr/>
        </p:nvSpPr>
        <p:spPr>
          <a:xfrm>
            <a:off x="-5565656" y="5814686"/>
            <a:ext cx="32508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Realise</a:t>
            </a:r>
            <a:r>
              <a:rPr lang="en-US" sz="2000" dirty="0"/>
              <a:t> par : Anas KABLAOUI</a:t>
            </a:r>
            <a:br>
              <a:rPr lang="en-US" sz="2000" dirty="0"/>
            </a:br>
            <a:r>
              <a:rPr lang="en-US" sz="2000" dirty="0"/>
              <a:t> 	      Badr BENHILAL</a:t>
            </a:r>
            <a:endParaRPr lang="fr-FR" sz="2000" dirty="0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529160F2-069E-EEBE-EBC9-EAF8D886A2A5}"/>
              </a:ext>
            </a:extLst>
          </p:cNvPr>
          <p:cNvSpPr txBox="1"/>
          <p:nvPr/>
        </p:nvSpPr>
        <p:spPr>
          <a:xfrm>
            <a:off x="14623266" y="5983963"/>
            <a:ext cx="3513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3IIR Development Web </a:t>
            </a:r>
            <a:endParaRPr lang="fr-FR" dirty="0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3439980C-A5AC-8A0F-23DE-47E31D1EA8DA}"/>
              </a:ext>
            </a:extLst>
          </p:cNvPr>
          <p:cNvSpPr txBox="1"/>
          <p:nvPr/>
        </p:nvSpPr>
        <p:spPr>
          <a:xfrm>
            <a:off x="555774" y="607755"/>
            <a:ext cx="30642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D9534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Gusto &amp; Pane</a:t>
            </a:r>
            <a:endParaRPr lang="fr-FR" sz="2000" dirty="0">
              <a:solidFill>
                <a:srgbClr val="D9534F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3173773B-3F23-607B-07AD-EC183A774CCD}"/>
              </a:ext>
            </a:extLst>
          </p:cNvPr>
          <p:cNvSpPr txBox="1"/>
          <p:nvPr/>
        </p:nvSpPr>
        <p:spPr>
          <a:xfrm>
            <a:off x="4230053" y="7609048"/>
            <a:ext cx="3199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Encadrent</a:t>
            </a:r>
            <a:r>
              <a:rPr lang="en-US" dirty="0"/>
              <a:t> : Houda </a:t>
            </a:r>
            <a:r>
              <a:rPr lang="en-US" dirty="0" err="1"/>
              <a:t>MoutTalib</a:t>
            </a:r>
            <a:r>
              <a:rPr lang="en-US" dirty="0"/>
              <a:t> </a:t>
            </a:r>
            <a:endParaRPr lang="fr-FR" dirty="0"/>
          </a:p>
        </p:txBody>
      </p:sp>
      <p:sp>
        <p:nvSpPr>
          <p:cNvPr id="2" name="Triangle rectangle 1">
            <a:extLst>
              <a:ext uri="{FF2B5EF4-FFF2-40B4-BE49-F238E27FC236}">
                <a16:creationId xmlns:a16="http://schemas.microsoft.com/office/drawing/2014/main" id="{22710BBF-1672-D18D-35BB-4711F318E6BF}"/>
              </a:ext>
            </a:extLst>
          </p:cNvPr>
          <p:cNvSpPr/>
          <p:nvPr/>
        </p:nvSpPr>
        <p:spPr>
          <a:xfrm rot="16200000">
            <a:off x="7360920" y="2026920"/>
            <a:ext cx="4373880" cy="5288280"/>
          </a:xfrm>
          <a:prstGeom prst="rtTriangle">
            <a:avLst/>
          </a:prstGeom>
          <a:solidFill>
            <a:srgbClr val="2E8B57"/>
          </a:solidFill>
          <a:ln>
            <a:solidFill>
              <a:srgbClr val="FFF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B12D89D-632D-AAC5-6C37-35D2B560F166}"/>
              </a:ext>
            </a:extLst>
          </p:cNvPr>
          <p:cNvSpPr txBox="1"/>
          <p:nvPr/>
        </p:nvSpPr>
        <p:spPr>
          <a:xfrm>
            <a:off x="1249680" y="2179320"/>
            <a:ext cx="63855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L’objectife</a:t>
            </a:r>
            <a:r>
              <a:rPr lang="en-US" dirty="0"/>
              <a:t> de </a:t>
            </a:r>
            <a:r>
              <a:rPr lang="en-US" dirty="0" err="1"/>
              <a:t>notre</a:t>
            </a:r>
            <a:r>
              <a:rPr lang="en-US" dirty="0"/>
              <a:t> application :</a:t>
            </a:r>
            <a:br>
              <a:rPr lang="en-US" dirty="0"/>
            </a:br>
            <a:r>
              <a:rPr lang="en-US" dirty="0"/>
              <a:t>		</a:t>
            </a:r>
          </a:p>
          <a:p>
            <a:r>
              <a:rPr lang="en-US" dirty="0"/>
              <a:t>		-Gestion </a:t>
            </a:r>
            <a:r>
              <a:rPr lang="en-US" dirty="0" err="1"/>
              <a:t>automatiser</a:t>
            </a:r>
            <a:r>
              <a:rPr lang="en-US" dirty="0"/>
              <a:t> du restaurant</a:t>
            </a:r>
            <a:br>
              <a:rPr lang="en-US" dirty="0"/>
            </a:br>
            <a:r>
              <a:rPr lang="en-US" dirty="0"/>
              <a:t>		-Gestion des </a:t>
            </a:r>
            <a:r>
              <a:rPr lang="en-US" dirty="0" err="1"/>
              <a:t>donnes</a:t>
            </a:r>
            <a:r>
              <a:rPr lang="en-US" dirty="0"/>
              <a:t>  via un interface admin</a:t>
            </a:r>
          </a:p>
          <a:p>
            <a:r>
              <a:rPr lang="en-US" dirty="0"/>
              <a:t>		-</a:t>
            </a:r>
            <a:r>
              <a:rPr lang="en-US" dirty="0" err="1"/>
              <a:t>Avoir</a:t>
            </a:r>
            <a:r>
              <a:rPr lang="en-US" dirty="0"/>
              <a:t> des </a:t>
            </a:r>
            <a:r>
              <a:rPr lang="en-US" dirty="0" err="1"/>
              <a:t>statistique</a:t>
            </a:r>
            <a:r>
              <a:rPr lang="en-US" dirty="0"/>
              <a:t> sous </a:t>
            </a:r>
            <a:r>
              <a:rPr lang="en-US" dirty="0" err="1"/>
              <a:t>forme</a:t>
            </a:r>
            <a:r>
              <a:rPr lang="en-US" dirty="0"/>
              <a:t> de graph</a:t>
            </a:r>
          </a:p>
          <a:p>
            <a:r>
              <a:rPr lang="en-US" dirty="0"/>
              <a:t>		-</a:t>
            </a:r>
            <a:r>
              <a:rPr lang="en-US" dirty="0" err="1"/>
              <a:t>securiser</a:t>
            </a:r>
            <a:r>
              <a:rPr lang="en-US" dirty="0"/>
              <a:t> </a:t>
            </a:r>
            <a:r>
              <a:rPr lang="en-US" dirty="0" err="1"/>
              <a:t>l’acces</a:t>
            </a:r>
            <a:r>
              <a:rPr lang="en-US" dirty="0"/>
              <a:t> par </a:t>
            </a:r>
            <a:r>
              <a:rPr lang="en-US" dirty="0" err="1"/>
              <a:t>l’authentification</a:t>
            </a:r>
            <a:r>
              <a:rPr lang="en-US" dirty="0"/>
              <a:t> </a:t>
            </a:r>
          </a:p>
          <a:p>
            <a:r>
              <a:rPr lang="en-US" dirty="0"/>
              <a:t>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64691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AB56E-6F6E-A5AC-F88B-75DBF011C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5F69BFC-B17E-C151-45C2-25436718C4D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92704A17-4DE5-65ED-ABB3-E39D4DE134DC}"/>
              </a:ext>
            </a:extLst>
          </p:cNvPr>
          <p:cNvSpPr txBox="1"/>
          <p:nvPr/>
        </p:nvSpPr>
        <p:spPr>
          <a:xfrm>
            <a:off x="-5565656" y="5814686"/>
            <a:ext cx="32508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Realise</a:t>
            </a:r>
            <a:r>
              <a:rPr lang="en-US" sz="2000" dirty="0"/>
              <a:t> par : Anas KABLAOUI</a:t>
            </a:r>
            <a:br>
              <a:rPr lang="en-US" sz="2000" dirty="0"/>
            </a:br>
            <a:r>
              <a:rPr lang="en-US" sz="2000" dirty="0"/>
              <a:t> 	      Badr BENHILAL</a:t>
            </a:r>
            <a:endParaRPr lang="fr-FR" sz="2000" dirty="0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90C06195-C1BB-BE7A-74E0-C7A94B097C6B}"/>
              </a:ext>
            </a:extLst>
          </p:cNvPr>
          <p:cNvSpPr txBox="1"/>
          <p:nvPr/>
        </p:nvSpPr>
        <p:spPr>
          <a:xfrm>
            <a:off x="14623266" y="5983963"/>
            <a:ext cx="3513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3IIR Development Web </a:t>
            </a:r>
            <a:endParaRPr lang="fr-FR" dirty="0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B80B5498-EF6C-6DBB-A2B2-5067DB055738}"/>
              </a:ext>
            </a:extLst>
          </p:cNvPr>
          <p:cNvSpPr txBox="1"/>
          <p:nvPr/>
        </p:nvSpPr>
        <p:spPr>
          <a:xfrm>
            <a:off x="555774" y="607755"/>
            <a:ext cx="30642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D9534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Gusto &amp; Pane</a:t>
            </a:r>
            <a:endParaRPr lang="fr-FR" sz="2000" dirty="0">
              <a:solidFill>
                <a:srgbClr val="D9534F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8595B29A-6D0A-1F4A-0423-777C5F51F94A}"/>
              </a:ext>
            </a:extLst>
          </p:cNvPr>
          <p:cNvSpPr txBox="1"/>
          <p:nvPr/>
        </p:nvSpPr>
        <p:spPr>
          <a:xfrm>
            <a:off x="4230053" y="7609048"/>
            <a:ext cx="3199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Encadrent</a:t>
            </a:r>
            <a:r>
              <a:rPr lang="en-US" dirty="0"/>
              <a:t> : Houda </a:t>
            </a:r>
            <a:r>
              <a:rPr lang="en-US" dirty="0" err="1"/>
              <a:t>MoutTalib</a:t>
            </a:r>
            <a:r>
              <a:rPr lang="en-US" dirty="0"/>
              <a:t> </a:t>
            </a:r>
            <a:endParaRPr lang="fr-FR" dirty="0"/>
          </a:p>
        </p:txBody>
      </p:sp>
      <p:sp>
        <p:nvSpPr>
          <p:cNvPr id="2" name="Triangle rectangle 1">
            <a:extLst>
              <a:ext uri="{FF2B5EF4-FFF2-40B4-BE49-F238E27FC236}">
                <a16:creationId xmlns:a16="http://schemas.microsoft.com/office/drawing/2014/main" id="{3EFBF159-505D-A517-7558-5900EEC648C5}"/>
              </a:ext>
            </a:extLst>
          </p:cNvPr>
          <p:cNvSpPr/>
          <p:nvPr/>
        </p:nvSpPr>
        <p:spPr>
          <a:xfrm rot="16200000">
            <a:off x="7360920" y="2026920"/>
            <a:ext cx="4373880" cy="5288280"/>
          </a:xfrm>
          <a:prstGeom prst="rtTriangle">
            <a:avLst/>
          </a:prstGeom>
          <a:solidFill>
            <a:srgbClr val="2E8B57"/>
          </a:solidFill>
          <a:ln>
            <a:solidFill>
              <a:srgbClr val="FFF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522397B-12CB-7D6E-E0A5-00C855AD6E09}"/>
              </a:ext>
            </a:extLst>
          </p:cNvPr>
          <p:cNvSpPr txBox="1"/>
          <p:nvPr/>
        </p:nvSpPr>
        <p:spPr>
          <a:xfrm>
            <a:off x="1298481" y="2087880"/>
            <a:ext cx="634794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Notre Application </a:t>
            </a:r>
            <a:r>
              <a:rPr lang="en-US" dirty="0" err="1"/>
              <a:t>contient</a:t>
            </a:r>
            <a:r>
              <a:rPr lang="en-US" dirty="0"/>
              <a:t> :</a:t>
            </a:r>
            <a:br>
              <a:rPr lang="en-US" dirty="0"/>
            </a:br>
            <a:r>
              <a:rPr lang="en-US" dirty="0"/>
              <a:t>	</a:t>
            </a:r>
          </a:p>
          <a:p>
            <a:r>
              <a:rPr lang="en-US" dirty="0"/>
              <a:t>	-La gestion de 5 </a:t>
            </a:r>
            <a:r>
              <a:rPr lang="en-US" dirty="0" err="1"/>
              <a:t>entite</a:t>
            </a:r>
            <a:r>
              <a:rPr lang="en-US" dirty="0"/>
              <a:t> Crud</a:t>
            </a:r>
          </a:p>
          <a:p>
            <a:r>
              <a:rPr lang="en-US" dirty="0"/>
              <a:t> 		.Stocks</a:t>
            </a:r>
          </a:p>
          <a:p>
            <a:r>
              <a:rPr lang="en-US" dirty="0"/>
              <a:t> 		.Restaurants</a:t>
            </a:r>
            <a:endParaRPr lang="fr-FR" dirty="0"/>
          </a:p>
          <a:p>
            <a:r>
              <a:rPr lang="en-US" dirty="0"/>
              <a:t> 		.Menu</a:t>
            </a:r>
            <a:endParaRPr lang="fr-FR" dirty="0"/>
          </a:p>
          <a:p>
            <a:r>
              <a:rPr lang="en-US" dirty="0"/>
              <a:t> 		.Reservation	</a:t>
            </a:r>
            <a:endParaRPr lang="fr-FR" dirty="0"/>
          </a:p>
          <a:p>
            <a:r>
              <a:rPr lang="en-US" dirty="0"/>
              <a:t> 		.Employes</a:t>
            </a:r>
            <a:endParaRPr lang="fr-FR" dirty="0"/>
          </a:p>
          <a:p>
            <a:r>
              <a:rPr lang="fr-FR" dirty="0"/>
              <a:t>	-des tableaux de bords statistiques </a:t>
            </a:r>
          </a:p>
        </p:txBody>
      </p:sp>
    </p:spTree>
    <p:extLst>
      <p:ext uri="{BB962C8B-B14F-4D97-AF65-F5344CB8AC3E}">
        <p14:creationId xmlns:p14="http://schemas.microsoft.com/office/powerpoint/2010/main" val="29794843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D0FA9-724A-B148-9E05-BEE657708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0051E20-1258-D1BE-50C9-761A316A396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0876F711-FCE7-72F1-4C93-5BD290F369AE}"/>
              </a:ext>
            </a:extLst>
          </p:cNvPr>
          <p:cNvSpPr txBox="1"/>
          <p:nvPr/>
        </p:nvSpPr>
        <p:spPr>
          <a:xfrm>
            <a:off x="-5565656" y="5814686"/>
            <a:ext cx="32508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Realise</a:t>
            </a:r>
            <a:r>
              <a:rPr lang="en-US" sz="2000" dirty="0"/>
              <a:t> par : Anas KABLAOUI</a:t>
            </a:r>
            <a:br>
              <a:rPr lang="en-US" sz="2000" dirty="0"/>
            </a:br>
            <a:r>
              <a:rPr lang="en-US" sz="2000" dirty="0"/>
              <a:t> 	      Badr BENHILAL</a:t>
            </a:r>
            <a:endParaRPr lang="fr-FR" sz="2000" dirty="0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39769FA2-8601-D3EF-FC74-EA92A8A72C75}"/>
              </a:ext>
            </a:extLst>
          </p:cNvPr>
          <p:cNvSpPr txBox="1"/>
          <p:nvPr/>
        </p:nvSpPr>
        <p:spPr>
          <a:xfrm>
            <a:off x="14623266" y="5983963"/>
            <a:ext cx="3513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3IIR Development Web </a:t>
            </a:r>
            <a:endParaRPr lang="fr-FR" dirty="0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A43AB168-364E-8567-E992-88A1E869C745}"/>
              </a:ext>
            </a:extLst>
          </p:cNvPr>
          <p:cNvSpPr txBox="1"/>
          <p:nvPr/>
        </p:nvSpPr>
        <p:spPr>
          <a:xfrm>
            <a:off x="555774" y="607755"/>
            <a:ext cx="30642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D9534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Gusto &amp; Pane</a:t>
            </a:r>
            <a:endParaRPr lang="fr-FR" sz="2000" dirty="0">
              <a:solidFill>
                <a:srgbClr val="D9534F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80604FAC-7B77-4318-EA2C-558C521975F7}"/>
              </a:ext>
            </a:extLst>
          </p:cNvPr>
          <p:cNvSpPr txBox="1"/>
          <p:nvPr/>
        </p:nvSpPr>
        <p:spPr>
          <a:xfrm>
            <a:off x="4230053" y="7609048"/>
            <a:ext cx="3199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Encadrent</a:t>
            </a:r>
            <a:r>
              <a:rPr lang="en-US" dirty="0"/>
              <a:t> : Houda </a:t>
            </a:r>
            <a:r>
              <a:rPr lang="en-US" dirty="0" err="1"/>
              <a:t>MoutTalib</a:t>
            </a:r>
            <a:r>
              <a:rPr lang="en-US" dirty="0"/>
              <a:t> </a:t>
            </a:r>
            <a:endParaRPr lang="fr-FR" dirty="0"/>
          </a:p>
        </p:txBody>
      </p:sp>
      <p:sp>
        <p:nvSpPr>
          <p:cNvPr id="2" name="Triangle rectangle 1">
            <a:extLst>
              <a:ext uri="{FF2B5EF4-FFF2-40B4-BE49-F238E27FC236}">
                <a16:creationId xmlns:a16="http://schemas.microsoft.com/office/drawing/2014/main" id="{F6C06E9E-B687-B361-801E-0EED7BD47333}"/>
              </a:ext>
            </a:extLst>
          </p:cNvPr>
          <p:cNvSpPr/>
          <p:nvPr/>
        </p:nvSpPr>
        <p:spPr>
          <a:xfrm rot="16200000">
            <a:off x="7360920" y="2026920"/>
            <a:ext cx="4373880" cy="5288280"/>
          </a:xfrm>
          <a:prstGeom prst="rtTriangle">
            <a:avLst/>
          </a:prstGeom>
          <a:solidFill>
            <a:srgbClr val="2E8B57"/>
          </a:solidFill>
          <a:ln>
            <a:solidFill>
              <a:srgbClr val="FFF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1C9743C-6F5A-5095-F103-286A0FE66E33}"/>
              </a:ext>
            </a:extLst>
          </p:cNvPr>
          <p:cNvSpPr txBox="1"/>
          <p:nvPr/>
        </p:nvSpPr>
        <p:spPr>
          <a:xfrm>
            <a:off x="1298481" y="2087880"/>
            <a:ext cx="634794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 </a:t>
            </a:r>
            <a:r>
              <a:rPr lang="en-US" dirty="0" err="1"/>
              <a:t>technologie</a:t>
            </a:r>
            <a:r>
              <a:rPr lang="en-US" dirty="0"/>
              <a:t> utilize: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	Html5</a:t>
            </a:r>
          </a:p>
          <a:p>
            <a:r>
              <a:rPr lang="en-US" dirty="0"/>
              <a:t>	Css3</a:t>
            </a:r>
            <a:br>
              <a:rPr lang="en-US" dirty="0"/>
            </a:br>
            <a:r>
              <a:rPr lang="en-US" dirty="0"/>
              <a:t>	Java Script ES6+</a:t>
            </a:r>
          </a:p>
          <a:p>
            <a:r>
              <a:rPr lang="en-US" dirty="0"/>
              <a:t>	Chart.js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608546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0AF89-D52E-1435-11C0-975099270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106B3F9-39C5-F778-1B20-186DFA9E43F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338D16E0-615F-853A-8971-6D035D9743CF}"/>
              </a:ext>
            </a:extLst>
          </p:cNvPr>
          <p:cNvSpPr txBox="1"/>
          <p:nvPr/>
        </p:nvSpPr>
        <p:spPr>
          <a:xfrm>
            <a:off x="-5565656" y="5814686"/>
            <a:ext cx="32508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Realise</a:t>
            </a:r>
            <a:r>
              <a:rPr lang="en-US" sz="2000" dirty="0"/>
              <a:t> par : Anas KABLAOUI</a:t>
            </a:r>
            <a:br>
              <a:rPr lang="en-US" sz="2000" dirty="0"/>
            </a:br>
            <a:r>
              <a:rPr lang="en-US" sz="2000" dirty="0"/>
              <a:t> 	      Badr BENHILAL</a:t>
            </a:r>
            <a:endParaRPr lang="fr-FR" sz="2000" dirty="0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06F8472D-D342-E8F5-69FF-3B8F6A9EA325}"/>
              </a:ext>
            </a:extLst>
          </p:cNvPr>
          <p:cNvSpPr txBox="1"/>
          <p:nvPr/>
        </p:nvSpPr>
        <p:spPr>
          <a:xfrm>
            <a:off x="14623266" y="5983963"/>
            <a:ext cx="3513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3IIR Development Web </a:t>
            </a:r>
            <a:endParaRPr lang="fr-FR" dirty="0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7F63206E-5B30-550E-C445-C89E7823BE25}"/>
              </a:ext>
            </a:extLst>
          </p:cNvPr>
          <p:cNvSpPr txBox="1"/>
          <p:nvPr/>
        </p:nvSpPr>
        <p:spPr>
          <a:xfrm>
            <a:off x="555774" y="607755"/>
            <a:ext cx="30642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D9534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Gusto &amp; Pane</a:t>
            </a:r>
            <a:endParaRPr lang="fr-FR" sz="2000" dirty="0">
              <a:solidFill>
                <a:srgbClr val="D9534F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BEAA7754-767B-88BE-2AE2-9AA73AE55D4F}"/>
              </a:ext>
            </a:extLst>
          </p:cNvPr>
          <p:cNvSpPr txBox="1"/>
          <p:nvPr/>
        </p:nvSpPr>
        <p:spPr>
          <a:xfrm>
            <a:off x="4230053" y="7609048"/>
            <a:ext cx="3199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Encadrent</a:t>
            </a:r>
            <a:r>
              <a:rPr lang="en-US" dirty="0"/>
              <a:t> : Houda </a:t>
            </a:r>
            <a:r>
              <a:rPr lang="en-US" dirty="0" err="1"/>
              <a:t>MoutTalib</a:t>
            </a:r>
            <a:r>
              <a:rPr lang="en-US" dirty="0"/>
              <a:t> </a:t>
            </a:r>
            <a:endParaRPr lang="fr-FR" dirty="0"/>
          </a:p>
        </p:txBody>
      </p:sp>
      <p:sp>
        <p:nvSpPr>
          <p:cNvPr id="2" name="Triangle rectangle 1">
            <a:extLst>
              <a:ext uri="{FF2B5EF4-FFF2-40B4-BE49-F238E27FC236}">
                <a16:creationId xmlns:a16="http://schemas.microsoft.com/office/drawing/2014/main" id="{1845A28F-E9D0-DBE0-9E92-43C423E13ECE}"/>
              </a:ext>
            </a:extLst>
          </p:cNvPr>
          <p:cNvSpPr/>
          <p:nvPr/>
        </p:nvSpPr>
        <p:spPr>
          <a:xfrm rot="16200000">
            <a:off x="7360920" y="2026920"/>
            <a:ext cx="4373880" cy="5288280"/>
          </a:xfrm>
          <a:prstGeom prst="rtTriangle">
            <a:avLst/>
          </a:prstGeom>
          <a:solidFill>
            <a:srgbClr val="2E8B57"/>
          </a:solidFill>
          <a:ln>
            <a:solidFill>
              <a:srgbClr val="FFF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E07F673-E6C0-B921-CD8E-5AB77E9DF1C8}"/>
              </a:ext>
            </a:extLst>
          </p:cNvPr>
          <p:cNvSpPr txBox="1"/>
          <p:nvPr/>
        </p:nvSpPr>
        <p:spPr>
          <a:xfrm>
            <a:off x="1298481" y="2087880"/>
            <a:ext cx="6347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Simulation de </a:t>
            </a:r>
            <a:r>
              <a:rPr lang="en-US" dirty="0" err="1"/>
              <a:t>projet</a:t>
            </a:r>
            <a:r>
              <a:rPr lang="en-US" dirty="0"/>
              <a:t>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752737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1ACDF-6F78-94CB-F05D-CA47AEB84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EF7E603-442F-6320-B20C-DD849A942E6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A205289E-8463-6DDE-CDB4-27726108EB8C}"/>
              </a:ext>
            </a:extLst>
          </p:cNvPr>
          <p:cNvSpPr txBox="1"/>
          <p:nvPr/>
        </p:nvSpPr>
        <p:spPr>
          <a:xfrm>
            <a:off x="-5565656" y="5814686"/>
            <a:ext cx="32508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Realise</a:t>
            </a:r>
            <a:r>
              <a:rPr lang="en-US" sz="2000" dirty="0"/>
              <a:t> par : Anas KABLAOUI</a:t>
            </a:r>
            <a:br>
              <a:rPr lang="en-US" sz="2000" dirty="0"/>
            </a:br>
            <a:r>
              <a:rPr lang="en-US" sz="2000" dirty="0"/>
              <a:t> 	      Badr BENHILAL</a:t>
            </a:r>
            <a:endParaRPr lang="fr-FR" sz="2000" dirty="0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BD2C98D2-05B9-85CD-B649-8AB4C7537C86}"/>
              </a:ext>
            </a:extLst>
          </p:cNvPr>
          <p:cNvSpPr txBox="1"/>
          <p:nvPr/>
        </p:nvSpPr>
        <p:spPr>
          <a:xfrm>
            <a:off x="14623266" y="5983963"/>
            <a:ext cx="3513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3IIR Development Web </a:t>
            </a:r>
            <a:endParaRPr lang="fr-FR" dirty="0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01D170A3-0363-BF35-1400-7101EAE749FB}"/>
              </a:ext>
            </a:extLst>
          </p:cNvPr>
          <p:cNvSpPr txBox="1"/>
          <p:nvPr/>
        </p:nvSpPr>
        <p:spPr>
          <a:xfrm>
            <a:off x="555774" y="607755"/>
            <a:ext cx="30642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D9534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Gusto &amp; Pane</a:t>
            </a:r>
            <a:endParaRPr lang="fr-FR" sz="2000" dirty="0">
              <a:solidFill>
                <a:srgbClr val="D9534F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8F168E5A-EAD9-1076-34D5-52AF783F74B1}"/>
              </a:ext>
            </a:extLst>
          </p:cNvPr>
          <p:cNvSpPr txBox="1"/>
          <p:nvPr/>
        </p:nvSpPr>
        <p:spPr>
          <a:xfrm>
            <a:off x="4230053" y="7609048"/>
            <a:ext cx="3199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Encadrent</a:t>
            </a:r>
            <a:r>
              <a:rPr lang="en-US" dirty="0"/>
              <a:t> : Houda </a:t>
            </a:r>
            <a:r>
              <a:rPr lang="en-US" dirty="0" err="1"/>
              <a:t>MoutTalib</a:t>
            </a:r>
            <a:r>
              <a:rPr lang="en-US" dirty="0"/>
              <a:t> </a:t>
            </a:r>
            <a:endParaRPr lang="fr-FR" dirty="0"/>
          </a:p>
        </p:txBody>
      </p:sp>
      <p:sp>
        <p:nvSpPr>
          <p:cNvPr id="2" name="Triangle rectangle 1">
            <a:extLst>
              <a:ext uri="{FF2B5EF4-FFF2-40B4-BE49-F238E27FC236}">
                <a16:creationId xmlns:a16="http://schemas.microsoft.com/office/drawing/2014/main" id="{58EF0F85-1564-C6F6-36EC-88E2FC05F3AF}"/>
              </a:ext>
            </a:extLst>
          </p:cNvPr>
          <p:cNvSpPr/>
          <p:nvPr/>
        </p:nvSpPr>
        <p:spPr>
          <a:xfrm rot="16200000">
            <a:off x="7360920" y="2026920"/>
            <a:ext cx="4373880" cy="5288280"/>
          </a:xfrm>
          <a:prstGeom prst="rtTriangle">
            <a:avLst/>
          </a:prstGeom>
          <a:solidFill>
            <a:srgbClr val="2E8B57"/>
          </a:solidFill>
          <a:ln>
            <a:solidFill>
              <a:srgbClr val="FFF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6D2E1CB-E6F6-1F2B-F6C3-063D4B986D17}"/>
              </a:ext>
            </a:extLst>
          </p:cNvPr>
          <p:cNvSpPr txBox="1"/>
          <p:nvPr/>
        </p:nvSpPr>
        <p:spPr>
          <a:xfrm>
            <a:off x="1371600" y="2797969"/>
            <a:ext cx="55321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Defis </a:t>
            </a:r>
            <a:r>
              <a:rPr lang="en-US" dirty="0" err="1"/>
              <a:t>rencontrer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	-</a:t>
            </a:r>
            <a:r>
              <a:rPr lang="en-US" dirty="0" err="1"/>
              <a:t>Ajouter</a:t>
            </a:r>
            <a:r>
              <a:rPr lang="en-US" dirty="0"/>
              <a:t> Modifier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supprimer</a:t>
            </a:r>
            <a:r>
              <a:rPr lang="en-US" dirty="0"/>
              <a:t> </a:t>
            </a:r>
            <a:r>
              <a:rPr lang="en-US" dirty="0" err="1"/>
              <a:t>directement</a:t>
            </a:r>
            <a:r>
              <a:rPr lang="en-US" dirty="0"/>
              <a:t> </a:t>
            </a:r>
            <a:r>
              <a:rPr lang="en-US" dirty="0" err="1"/>
              <a:t>d’une</a:t>
            </a:r>
            <a:r>
              <a:rPr lang="en-US" dirty="0"/>
              <a:t> base de </a:t>
            </a:r>
            <a:r>
              <a:rPr lang="en-US" dirty="0" err="1"/>
              <a:t>donne</a:t>
            </a:r>
            <a:r>
              <a:rPr lang="en-US" dirty="0"/>
              <a:t> .</a:t>
            </a:r>
          </a:p>
          <a:p>
            <a:r>
              <a:rPr lang="en-US" dirty="0"/>
              <a:t>	*</a:t>
            </a:r>
            <a:r>
              <a:rPr lang="en-US" dirty="0" err="1"/>
              <a:t>avoir</a:t>
            </a:r>
            <a:r>
              <a:rPr lang="en-US" dirty="0"/>
              <a:t> des </a:t>
            </a:r>
            <a:r>
              <a:rPr lang="en-US" dirty="0" err="1"/>
              <a:t>donne</a:t>
            </a:r>
            <a:r>
              <a:rPr lang="en-US" dirty="0"/>
              <a:t> </a:t>
            </a:r>
            <a:r>
              <a:rPr lang="en-US" dirty="0" err="1"/>
              <a:t>liees</a:t>
            </a:r>
            <a:r>
              <a:rPr lang="en-US" dirty="0"/>
              <a:t> entre </a:t>
            </a:r>
            <a:r>
              <a:rPr lang="en-US" dirty="0" err="1"/>
              <a:t>eux</a:t>
            </a:r>
            <a:r>
              <a:rPr lang="en-US" dirty="0"/>
              <a:t> pour un </a:t>
            </a:r>
            <a:r>
              <a:rPr lang="en-US" dirty="0" err="1"/>
              <a:t>mieux</a:t>
            </a:r>
            <a:r>
              <a:rPr lang="en-US" dirty="0"/>
              <a:t> service et </a:t>
            </a:r>
            <a:r>
              <a:rPr lang="en-US" dirty="0" err="1"/>
              <a:t>donne</a:t>
            </a:r>
            <a:r>
              <a:rPr lang="en-US" dirty="0"/>
              <a:t> compatible 	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764213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90D1E-AE5A-556A-D377-D1B64C27B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BACB568-D3C8-1E8F-1342-A8BB7970CD8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E83BA591-26F4-38F4-198E-447E71329103}"/>
              </a:ext>
            </a:extLst>
          </p:cNvPr>
          <p:cNvSpPr txBox="1"/>
          <p:nvPr/>
        </p:nvSpPr>
        <p:spPr>
          <a:xfrm>
            <a:off x="-5565656" y="5814686"/>
            <a:ext cx="32508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Realise</a:t>
            </a:r>
            <a:r>
              <a:rPr lang="en-US" sz="2000" dirty="0"/>
              <a:t> par : Anas KABLAOUI</a:t>
            </a:r>
            <a:br>
              <a:rPr lang="en-US" sz="2000" dirty="0"/>
            </a:br>
            <a:r>
              <a:rPr lang="en-US" sz="2000" dirty="0"/>
              <a:t> 	      Badr BENHILAL</a:t>
            </a:r>
            <a:endParaRPr lang="fr-FR" sz="2000" dirty="0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B31EB602-EF07-AD20-6DF1-8557389F6B67}"/>
              </a:ext>
            </a:extLst>
          </p:cNvPr>
          <p:cNvSpPr txBox="1"/>
          <p:nvPr/>
        </p:nvSpPr>
        <p:spPr>
          <a:xfrm>
            <a:off x="14623266" y="5983963"/>
            <a:ext cx="3513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3IIR Development Web </a:t>
            </a:r>
            <a:endParaRPr lang="fr-FR" dirty="0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B2CBD8CB-4997-A5DB-2B51-BC55EEE08041}"/>
              </a:ext>
            </a:extLst>
          </p:cNvPr>
          <p:cNvSpPr txBox="1"/>
          <p:nvPr/>
        </p:nvSpPr>
        <p:spPr>
          <a:xfrm>
            <a:off x="555774" y="607755"/>
            <a:ext cx="30642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D9534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Gusto &amp; Pane</a:t>
            </a:r>
            <a:endParaRPr lang="fr-FR" sz="2000" dirty="0">
              <a:solidFill>
                <a:srgbClr val="D9534F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C3116669-5543-0023-615E-9CB2CE669B4F}"/>
              </a:ext>
            </a:extLst>
          </p:cNvPr>
          <p:cNvSpPr txBox="1"/>
          <p:nvPr/>
        </p:nvSpPr>
        <p:spPr>
          <a:xfrm>
            <a:off x="4230053" y="7609048"/>
            <a:ext cx="3199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Encadrent</a:t>
            </a:r>
            <a:r>
              <a:rPr lang="en-US" dirty="0"/>
              <a:t> : Houda </a:t>
            </a:r>
            <a:r>
              <a:rPr lang="en-US" dirty="0" err="1"/>
              <a:t>MoutTalib</a:t>
            </a:r>
            <a:r>
              <a:rPr lang="en-US" dirty="0"/>
              <a:t> </a:t>
            </a:r>
            <a:endParaRPr lang="fr-FR" dirty="0"/>
          </a:p>
        </p:txBody>
      </p:sp>
      <p:sp>
        <p:nvSpPr>
          <p:cNvPr id="2" name="Triangle rectangle 1">
            <a:extLst>
              <a:ext uri="{FF2B5EF4-FFF2-40B4-BE49-F238E27FC236}">
                <a16:creationId xmlns:a16="http://schemas.microsoft.com/office/drawing/2014/main" id="{D1193F7F-8736-B56E-4051-6D7B6FFB695E}"/>
              </a:ext>
            </a:extLst>
          </p:cNvPr>
          <p:cNvSpPr/>
          <p:nvPr/>
        </p:nvSpPr>
        <p:spPr>
          <a:xfrm rot="16200000">
            <a:off x="7360920" y="2026920"/>
            <a:ext cx="4373880" cy="5288280"/>
          </a:xfrm>
          <a:prstGeom prst="rtTriangle">
            <a:avLst/>
          </a:prstGeom>
          <a:solidFill>
            <a:srgbClr val="2E8B57"/>
          </a:solidFill>
          <a:ln>
            <a:solidFill>
              <a:srgbClr val="FFF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6883659-D949-9DED-B6FA-0006ADA4D35D}"/>
              </a:ext>
            </a:extLst>
          </p:cNvPr>
          <p:cNvSpPr txBox="1"/>
          <p:nvPr/>
        </p:nvSpPr>
        <p:spPr>
          <a:xfrm>
            <a:off x="1478280" y="2753319"/>
            <a:ext cx="73304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Amelioration possible 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	-</a:t>
            </a:r>
            <a:r>
              <a:rPr lang="en-US" dirty="0" err="1"/>
              <a:t>creer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base donner est </a:t>
            </a:r>
            <a:r>
              <a:rPr lang="en-US" dirty="0" err="1"/>
              <a:t>l’utiliserr</a:t>
            </a:r>
            <a:r>
              <a:rPr lang="en-US" dirty="0"/>
              <a:t> pour </a:t>
            </a:r>
            <a:r>
              <a:rPr lang="en-US" dirty="0" err="1"/>
              <a:t>manipuler</a:t>
            </a:r>
            <a:r>
              <a:rPr lang="en-US" dirty="0"/>
              <a:t> </a:t>
            </a:r>
            <a:r>
              <a:rPr lang="en-US" dirty="0" err="1"/>
              <a:t>nos</a:t>
            </a:r>
            <a:r>
              <a:rPr lang="en-US" dirty="0"/>
              <a:t> donners</a:t>
            </a:r>
            <a:br>
              <a:rPr lang="en-US" dirty="0"/>
            </a:br>
            <a:r>
              <a:rPr lang="en-US" dirty="0"/>
              <a:t>	-</a:t>
            </a:r>
            <a:r>
              <a:rPr lang="en-US" dirty="0" err="1"/>
              <a:t>creer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page client </a:t>
            </a:r>
            <a:r>
              <a:rPr lang="en-US" dirty="0" err="1"/>
              <a:t>dont</a:t>
            </a:r>
            <a:r>
              <a:rPr lang="en-US" dirty="0"/>
              <a:t> on </a:t>
            </a:r>
            <a:r>
              <a:rPr lang="en-US" dirty="0" err="1"/>
              <a:t>peut</a:t>
            </a:r>
            <a:r>
              <a:rPr lang="en-US" dirty="0"/>
              <a:t> </a:t>
            </a:r>
            <a:r>
              <a:rPr lang="en-US" dirty="0" err="1"/>
              <a:t>reserver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 commander des menu . 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307327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82584-5733-09A6-A2AB-37F65D465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DEE1424-35CE-12E2-A903-B1332D81757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235208E8-0636-6CF2-A173-0B7089D5478F}"/>
              </a:ext>
            </a:extLst>
          </p:cNvPr>
          <p:cNvSpPr txBox="1"/>
          <p:nvPr/>
        </p:nvSpPr>
        <p:spPr>
          <a:xfrm>
            <a:off x="-5565656" y="5814686"/>
            <a:ext cx="32508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Realise</a:t>
            </a:r>
            <a:r>
              <a:rPr lang="en-US" sz="2000" dirty="0"/>
              <a:t> par : Anas KABLAOUI</a:t>
            </a:r>
            <a:br>
              <a:rPr lang="en-US" sz="2000" dirty="0"/>
            </a:br>
            <a:r>
              <a:rPr lang="en-US" sz="2000" dirty="0"/>
              <a:t> 	      Badr BENHILAL</a:t>
            </a:r>
            <a:endParaRPr lang="fr-FR" sz="2000" dirty="0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DA5D648E-1565-82E2-BDE3-3652383069B1}"/>
              </a:ext>
            </a:extLst>
          </p:cNvPr>
          <p:cNvSpPr txBox="1"/>
          <p:nvPr/>
        </p:nvSpPr>
        <p:spPr>
          <a:xfrm>
            <a:off x="14623266" y="5983963"/>
            <a:ext cx="3513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3IIR Development Web </a:t>
            </a:r>
            <a:endParaRPr lang="fr-FR" dirty="0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97500153-4011-6F96-E96A-E756C9C60BCF}"/>
              </a:ext>
            </a:extLst>
          </p:cNvPr>
          <p:cNvSpPr txBox="1"/>
          <p:nvPr/>
        </p:nvSpPr>
        <p:spPr>
          <a:xfrm>
            <a:off x="555774" y="607755"/>
            <a:ext cx="30642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D9534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Gusto &amp; Pane</a:t>
            </a:r>
            <a:endParaRPr lang="fr-FR" sz="2000" dirty="0">
              <a:solidFill>
                <a:srgbClr val="D9534F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B1879F85-4075-CD24-6D2D-0CB74339F058}"/>
              </a:ext>
            </a:extLst>
          </p:cNvPr>
          <p:cNvSpPr txBox="1"/>
          <p:nvPr/>
        </p:nvSpPr>
        <p:spPr>
          <a:xfrm>
            <a:off x="4230053" y="7609048"/>
            <a:ext cx="3199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Encadrent</a:t>
            </a:r>
            <a:r>
              <a:rPr lang="en-US" dirty="0"/>
              <a:t> : Houda </a:t>
            </a:r>
            <a:r>
              <a:rPr lang="en-US" dirty="0" err="1"/>
              <a:t>MoutTalib</a:t>
            </a:r>
            <a:r>
              <a:rPr lang="en-US" dirty="0"/>
              <a:t> </a:t>
            </a:r>
            <a:endParaRPr lang="fr-FR" dirty="0"/>
          </a:p>
        </p:txBody>
      </p:sp>
      <p:sp>
        <p:nvSpPr>
          <p:cNvPr id="2" name="Triangle rectangle 1">
            <a:extLst>
              <a:ext uri="{FF2B5EF4-FFF2-40B4-BE49-F238E27FC236}">
                <a16:creationId xmlns:a16="http://schemas.microsoft.com/office/drawing/2014/main" id="{309658CD-8049-1D5E-1C4E-51D35E8DCCFB}"/>
              </a:ext>
            </a:extLst>
          </p:cNvPr>
          <p:cNvSpPr/>
          <p:nvPr/>
        </p:nvSpPr>
        <p:spPr>
          <a:xfrm rot="16200000">
            <a:off x="7360920" y="2026920"/>
            <a:ext cx="4373880" cy="5288280"/>
          </a:xfrm>
          <a:prstGeom prst="rtTriangle">
            <a:avLst/>
          </a:prstGeom>
          <a:solidFill>
            <a:srgbClr val="2E8B57"/>
          </a:solidFill>
          <a:ln>
            <a:solidFill>
              <a:srgbClr val="FFF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5384153-F7B1-5969-B65F-3021DBC8159B}"/>
              </a:ext>
            </a:extLst>
          </p:cNvPr>
          <p:cNvSpPr txBox="1"/>
          <p:nvPr/>
        </p:nvSpPr>
        <p:spPr>
          <a:xfrm>
            <a:off x="1478280" y="2753319"/>
            <a:ext cx="73304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Amelioration possible 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	-</a:t>
            </a:r>
            <a:r>
              <a:rPr lang="en-US" dirty="0" err="1"/>
              <a:t>creer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base donner est </a:t>
            </a:r>
            <a:r>
              <a:rPr lang="en-US" dirty="0" err="1"/>
              <a:t>l’utiliserr</a:t>
            </a:r>
            <a:r>
              <a:rPr lang="en-US" dirty="0"/>
              <a:t> pour </a:t>
            </a:r>
            <a:r>
              <a:rPr lang="en-US" dirty="0" err="1"/>
              <a:t>manipuler</a:t>
            </a:r>
            <a:r>
              <a:rPr lang="en-US" dirty="0"/>
              <a:t> </a:t>
            </a:r>
            <a:r>
              <a:rPr lang="en-US" dirty="0" err="1"/>
              <a:t>nos</a:t>
            </a:r>
            <a:r>
              <a:rPr lang="en-US" dirty="0"/>
              <a:t> donners</a:t>
            </a:r>
            <a:br>
              <a:rPr lang="en-US" dirty="0"/>
            </a:br>
            <a:r>
              <a:rPr lang="en-US" dirty="0"/>
              <a:t>	-</a:t>
            </a:r>
            <a:r>
              <a:rPr lang="en-US" dirty="0" err="1"/>
              <a:t>creer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page client </a:t>
            </a:r>
            <a:r>
              <a:rPr lang="en-US" dirty="0" err="1"/>
              <a:t>dont</a:t>
            </a:r>
            <a:r>
              <a:rPr lang="en-US" dirty="0"/>
              <a:t> on </a:t>
            </a:r>
            <a:r>
              <a:rPr lang="en-US" dirty="0" err="1"/>
              <a:t>peut</a:t>
            </a:r>
            <a:r>
              <a:rPr lang="en-US" dirty="0"/>
              <a:t> </a:t>
            </a:r>
            <a:r>
              <a:rPr lang="en-US" dirty="0" err="1"/>
              <a:t>reserver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 commander des menu . 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125807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0A1E25-F679-EA10-4A59-AC4C79BA5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A292707-4E0B-8131-A3D3-278B675AB3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 descr="Une image contenant texte, capture d’écran, logiciel, Page web&#10;&#10;Le contenu généré par l’IA peut être incorrect.">
            <a:extLst>
              <a:ext uri="{FF2B5EF4-FFF2-40B4-BE49-F238E27FC236}">
                <a16:creationId xmlns:a16="http://schemas.microsoft.com/office/drawing/2014/main" id="{AB4922A7-BD66-CEDA-3EDC-4B64D5710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973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C334E3-B3B3-751E-3D0A-5019D7E57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 descr="Une image contenant texte, capture d’écran, logiciel, diagramme&#10;&#10;Le contenu généré par l’IA peut être incorrect.">
            <a:extLst>
              <a:ext uri="{FF2B5EF4-FFF2-40B4-BE49-F238E27FC236}">
                <a16:creationId xmlns:a16="http://schemas.microsoft.com/office/drawing/2014/main" id="{6A9DA76E-1780-49C6-CF3F-D21C9B74DB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7870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9FA0E-70BF-9B6E-F4A4-AFCC39EAE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2136AB-9A26-CE41-2C8E-5CCFBFF5F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Image 3" descr="Une image contenant texte, capture d’écran, logiciel, Icône d’ordinateur&#10;&#10;Le contenu généré par l’IA peut être incorrect.">
            <a:extLst>
              <a:ext uri="{FF2B5EF4-FFF2-40B4-BE49-F238E27FC236}">
                <a16:creationId xmlns:a16="http://schemas.microsoft.com/office/drawing/2014/main" id="{10755449-5CCC-BB49-8D16-3887A88B3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5974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0D7E4-1042-61C8-4EBE-E0EC3F694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2D06F1-225A-4A98-05D8-385AE9AA0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 descr="Une image contenant texte, capture d’écran, logiciel, Icône d’ordinateur&#10;&#10;Le contenu généré par l’IA peut être incorrect.">
            <a:extLst>
              <a:ext uri="{FF2B5EF4-FFF2-40B4-BE49-F238E27FC236}">
                <a16:creationId xmlns:a16="http://schemas.microsoft.com/office/drawing/2014/main" id="{4343EE63-9C03-4A85-B133-68F2BDE475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8278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AE576-1D63-1D46-DC11-66FE59FDF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03F775-09FB-AA30-ED85-B5EE30E8C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Image 3" descr="Une image contenant texte, capture d’écran, logiciel, Icône d’ordinateur&#10;&#10;Le contenu généré par l’IA peut être incorrect.">
            <a:extLst>
              <a:ext uri="{FF2B5EF4-FFF2-40B4-BE49-F238E27FC236}">
                <a16:creationId xmlns:a16="http://schemas.microsoft.com/office/drawing/2014/main" id="{E562D9BE-2706-0AF6-E561-1FF65B8D9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28190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475</Words>
  <Application>Microsoft Office PowerPoint</Application>
  <PresentationFormat>Grand écran</PresentationFormat>
  <Paragraphs>60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9" baseType="lpstr">
      <vt:lpstr>ADLaM Display</vt:lpstr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Laila HAJAJI</dc:creator>
  <cp:lastModifiedBy>Laila HAJAJI</cp:lastModifiedBy>
  <cp:revision>1</cp:revision>
  <dcterms:created xsi:type="dcterms:W3CDTF">2026-01-05T21:40:54Z</dcterms:created>
  <dcterms:modified xsi:type="dcterms:W3CDTF">2026-01-05T23:28:49Z</dcterms:modified>
</cp:coreProperties>
</file>